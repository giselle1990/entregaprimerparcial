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8aa7cdc46541e4" /><Relationship Type="http://schemas.openxmlformats.org/officeDocument/2006/relationships/extended-properties" Target="/docProps/app.xml" Id="R4d17ce80f00c44bc" /><Relationship Type="http://schemas.openxmlformats.org/officeDocument/2006/relationships/officeDocument" Target="/ppt/presentation.xml" Id="R482671b771e14c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013961161744af"/>
  </p:sldMasterIdLst>
  <p:notesMasterIdLst>
    <p:notesMasterId xmlns:r="http://schemas.openxmlformats.org/officeDocument/2006/relationships" r:id="R284fe8ecc2b1456f"/>
  </p:notesMasterIdLst>
  <p:sldIdLst>
    <p:sldId xmlns:r="http://schemas.openxmlformats.org/officeDocument/2006/relationships" id="256" r:id="Rfed24fe1cbd943fe"/>
    <p:sldId xmlns:r="http://schemas.openxmlformats.org/officeDocument/2006/relationships" id="257" r:id="R71513d9e9884476f"/>
    <p:sldId xmlns:r="http://schemas.openxmlformats.org/officeDocument/2006/relationships" id="258" r:id="Rdc4bc5b11d294a45"/>
    <p:sldId xmlns:r="http://schemas.openxmlformats.org/officeDocument/2006/relationships" id="259" r:id="R8ac25f586abc407b"/>
    <p:sldId xmlns:r="http://schemas.openxmlformats.org/officeDocument/2006/relationships" id="260" r:id="R9280568d55e144d6"/>
    <p:sldId xmlns:r="http://schemas.openxmlformats.org/officeDocument/2006/relationships" id="261" r:id="Raa88110c4e334ee7"/>
    <p:sldId xmlns:r="http://schemas.openxmlformats.org/officeDocument/2006/relationships" id="262" r:id="Rf4c0d0e9f4554821"/>
    <p:sldId xmlns:r="http://schemas.openxmlformats.org/officeDocument/2006/relationships" id="263" r:id="R7361a17c26bf4e68"/>
    <p:sldId xmlns:r="http://schemas.openxmlformats.org/officeDocument/2006/relationships" id="264" r:id="Rfb4bc5443e104926"/>
    <p:sldId xmlns:r="http://schemas.openxmlformats.org/officeDocument/2006/relationships" id="265" r:id="R4658e66457f44d4b"/>
    <p:sldId xmlns:r="http://schemas.openxmlformats.org/officeDocument/2006/relationships" id="266" r:id="R4ca0ab1ddd34461b"/>
    <p:sldId xmlns:r="http://schemas.openxmlformats.org/officeDocument/2006/relationships" id="267" r:id="Re648035b81ce40cd"/>
    <p:sldId xmlns:r="http://schemas.openxmlformats.org/officeDocument/2006/relationships" id="268" r:id="Ref7e3b1d82bc4f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8252b25be64489" /><Relationship Type="http://schemas.openxmlformats.org/officeDocument/2006/relationships/slideMaster" Target="/ppt/slideMasters/slideMaster1.xml" Id="Rd2013961161744af" /><Relationship Type="http://schemas.openxmlformats.org/officeDocument/2006/relationships/notesMaster" Target="/ppt/notesMasters/notesMaster1.xml" Id="R284fe8ecc2b1456f" /><Relationship Type="http://schemas.openxmlformats.org/officeDocument/2006/relationships/presProps" Target="/ppt/presProps.xml" Id="R2863d965a1d14094" /><Relationship Type="http://schemas.openxmlformats.org/officeDocument/2006/relationships/tableStyles" Target="/ppt/tableStyles.xml" Id="R43678da79294431c" /><Relationship Type="http://schemas.openxmlformats.org/officeDocument/2006/relationships/slide" Target="/ppt/slides/slide1.xml" Id="Rfed24fe1cbd943fe" /><Relationship Type="http://schemas.openxmlformats.org/officeDocument/2006/relationships/slide" Target="/ppt/slides/slide2.xml" Id="R71513d9e9884476f" /><Relationship Type="http://schemas.openxmlformats.org/officeDocument/2006/relationships/slide" Target="/ppt/slides/slide3.xml" Id="Rdc4bc5b11d294a45" /><Relationship Type="http://schemas.openxmlformats.org/officeDocument/2006/relationships/slide" Target="/ppt/slides/slide4.xml" Id="R8ac25f586abc407b" /><Relationship Type="http://schemas.openxmlformats.org/officeDocument/2006/relationships/slide" Target="/ppt/slides/slide5.xml" Id="R9280568d55e144d6" /><Relationship Type="http://schemas.openxmlformats.org/officeDocument/2006/relationships/slide" Target="/ppt/slides/slide6.xml" Id="Raa88110c4e334ee7" /><Relationship Type="http://schemas.openxmlformats.org/officeDocument/2006/relationships/slide" Target="/ppt/slides/slide7.xml" Id="Rf4c0d0e9f4554821" /><Relationship Type="http://schemas.openxmlformats.org/officeDocument/2006/relationships/slide" Target="/ppt/slides/slide8.xml" Id="R7361a17c26bf4e68" /><Relationship Type="http://schemas.openxmlformats.org/officeDocument/2006/relationships/slide" Target="/ppt/slides/slide9.xml" Id="Rfb4bc5443e104926" /><Relationship Type="http://schemas.openxmlformats.org/officeDocument/2006/relationships/slide" Target="/ppt/slides/slide10.xml" Id="R4658e66457f44d4b" /><Relationship Type="http://schemas.openxmlformats.org/officeDocument/2006/relationships/slide" Target="/ppt/slides/slide11.xml" Id="R4ca0ab1ddd34461b" /><Relationship Type="http://schemas.openxmlformats.org/officeDocument/2006/relationships/slide" Target="/ppt/slides/slide12.xml" Id="Re648035b81ce40cd" /><Relationship Type="http://schemas.openxmlformats.org/officeDocument/2006/relationships/slide" Target="/ppt/slides/slide13.xml" Id="Ref7e3b1d82bc4f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9d2159dc9444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Entrega 1">
      <a:dk1>
        <a:srgbClr val="000000"/>
      </a:dk1>
      <a:lt1>
        <a:srgbClr val="FFFFFF"/>
      </a:lt1>
      <a:dk2>
        <a:srgbClr val="17365D"/>
      </a:dk2>
      <a:lt2>
        <a:srgbClr val="EAF1F7"/>
      </a:lt2>
      <a:accent1>
        <a:srgbClr val="17365D"/>
      </a:accent1>
      <a:accent2>
        <a:srgbClr val="2A7F8E"/>
      </a:accent2>
      <a:accent3>
        <a:srgbClr val="4F81BD"/>
      </a:accent3>
      <a:accent4>
        <a:srgbClr val="A95C44"/>
      </a:accent4>
      <a:accent5>
        <a:srgbClr val="6F6A9E"/>
      </a:accent5>
      <a:accent6>
        <a:srgbClr val="5A7D5A"/>
      </a:accent6>
      <a:hlink>
        <a:srgbClr val="4F81BD"/>
      </a:hlink>
      <a:folHlink>
        <a:srgbClr val="6F6A9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ntrega 1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d03517319d4bad" /><Relationship Type="http://schemas.openxmlformats.org/officeDocument/2006/relationships/notesMaster" Target="/ppt/notesMasters/notesMaster1.xml" Id="R251ea2770f9e4c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d61ae399ee4f84" /><Relationship Type="http://schemas.openxmlformats.org/officeDocument/2006/relationships/notesMaster" Target="/ppt/notesMasters/notesMaster1.xml" Id="Rc722ce6597d243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aaaba5d43d4a63" /><Relationship Type="http://schemas.openxmlformats.org/officeDocument/2006/relationships/notesMaster" Target="/ppt/notesMasters/notesMaster1.xml" Id="R04b0c444712e4a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0fd45851e04245" /><Relationship Type="http://schemas.openxmlformats.org/officeDocument/2006/relationships/notesMaster" Target="/ppt/notesMasters/notesMaster1.xml" Id="Rc7d603dc22624f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1c85d5891f4106" /><Relationship Type="http://schemas.openxmlformats.org/officeDocument/2006/relationships/notesMaster" Target="/ppt/notesMasters/notesMaster1.xml" Id="Rc70d704d053644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730a0782644a38" /><Relationship Type="http://schemas.openxmlformats.org/officeDocument/2006/relationships/notesMaster" Target="/ppt/notesMasters/notesMaster1.xml" Id="Rde7bb20f741348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34027601b24f9d" /><Relationship Type="http://schemas.openxmlformats.org/officeDocument/2006/relationships/notesMaster" Target="/ppt/notesMasters/notesMaster1.xml" Id="Re18aacc96a6d4b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b141002faf41d3" /><Relationship Type="http://schemas.openxmlformats.org/officeDocument/2006/relationships/notesMaster" Target="/ppt/notesMasters/notesMaster1.xml" Id="R3bf6a070da414e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8f9ab463ff4724" /><Relationship Type="http://schemas.openxmlformats.org/officeDocument/2006/relationships/notesMaster" Target="/ppt/notesMasters/notesMaster1.xml" Id="Ra84010c1b7484a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cdcc3720f843ea" /><Relationship Type="http://schemas.openxmlformats.org/officeDocument/2006/relationships/notesMaster" Target="/ppt/notesMasters/notesMaster1.xml" Id="R1eb33b61def74b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c121527212476e" /><Relationship Type="http://schemas.openxmlformats.org/officeDocument/2006/relationships/notesMaster" Target="/ppt/notesMasters/notesMaster1.xml" Id="R3ec67f0da2ec45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1b3701952d426f" /><Relationship Type="http://schemas.openxmlformats.org/officeDocument/2006/relationships/notesMaster" Target="/ppt/notesMasters/notesMaster1.xml" Id="Ra8635a07c74c4e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22b22c26204843" /><Relationship Type="http://schemas.openxmlformats.org/officeDocument/2006/relationships/notesMaster" Target="/ppt/notesMasters/notesMaster1.xml" Id="R5fd353b7c73f4a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README.md del repositorio y consigna de la Entrega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objetivo y flujo obligatorio de la Entrega 1;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estructura actual del repositorio en el commit 55a0800.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.dvc/config y data/raw/customer_churn_historical.csv.dvc.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scripts/eda.py y results/eda_summary.md.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src/training/train.py, constantes RANDOM_STATE, TEST_SIZE y VALIDATION_SIZE.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src/features/pipeline.py.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función model_candidates de src/training/train.py.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resultados de validación informados en README.md y results/generated/experiment_results.csv.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corrida final a9013766e57641cc9fa53de5d72b92cd y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DagsHub MLflow, experimento 0, Run ID a9013766e57641cc9fa53de5d72b92cd.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README.md, sección Reproducción desde cero. El procedimiento Linux usa python3 y source .venv/bin/activate.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EVIDENCIAS_ENTREGA_1.md, GitHub y DagsHub MLflow.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8eb9d308984f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f5a2eaa30b4e14" /><Relationship Type="http://schemas.openxmlformats.org/officeDocument/2006/relationships/slideLayout" Target="/ppt/slideLayouts/slideLayout1.xml" Id="R6f752988344942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752988344942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Entrega 1">
      <a:dk1>
        <a:srgbClr val="000000"/>
      </a:dk1>
      <a:lt1>
        <a:srgbClr val="FFFFFF"/>
      </a:lt1>
      <a:dk2>
        <a:srgbClr val="17365D"/>
      </a:dk2>
      <a:lt2>
        <a:srgbClr val="EAF1F7"/>
      </a:lt2>
      <a:accent1>
        <a:srgbClr val="17365D"/>
      </a:accent1>
      <a:accent2>
        <a:srgbClr val="2A7F8E"/>
      </a:accent2>
      <a:accent3>
        <a:srgbClr val="4F81BD"/>
      </a:accent3>
      <a:accent4>
        <a:srgbClr val="A95C44"/>
      </a:accent4>
      <a:accent5>
        <a:srgbClr val="6F6A9E"/>
      </a:accent5>
      <a:accent6>
        <a:srgbClr val="5A7D5A"/>
      </a:accent6>
      <a:hlink>
        <a:srgbClr val="4F81BD"/>
      </a:hlink>
      <a:folHlink>
        <a:srgbClr val="6F6A9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ntrega 1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dfc5e644d4828" /><Relationship Type="http://schemas.openxmlformats.org/officeDocument/2006/relationships/notesSlide" Target="/ppt/notesSlides/notesSlide1.xml" Id="Re6a38ccf1ddd41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ba6c595f74a6d" /><Relationship Type="http://schemas.openxmlformats.org/officeDocument/2006/relationships/notesSlide" Target="/ppt/notesSlides/notesSlide2.xml" Id="Rdc1e2ac9729c44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b30e6fdbe44fb" /><Relationship Type="http://schemas.openxmlformats.org/officeDocument/2006/relationships/notesSlide" Target="/ppt/notesSlides/notesSlide3.xml" Id="Ra4b881faaa9e49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8dc32f2ca4749" /><Relationship Type="http://schemas.openxmlformats.org/officeDocument/2006/relationships/notesSlide" Target="/ppt/notesSlides/notesSlide4.xml" Id="R0b5f12900d5b40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54240b1094271" /><Relationship Type="http://schemas.openxmlformats.org/officeDocument/2006/relationships/notesSlide" Target="/ppt/notesSlides/notesSlide5.xml" Id="Ra0907110ee714a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9f45982224302" /><Relationship Type="http://schemas.openxmlformats.org/officeDocument/2006/relationships/notesSlide" Target="/ppt/notesSlides/notesSlide6.xml" Id="R7b71ea547e014f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2a26d379f48a4" /><Relationship Type="http://schemas.openxmlformats.org/officeDocument/2006/relationships/notesSlide" Target="/ppt/notesSlides/notesSlide7.xml" Id="R57a8e08e12704e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e95c7a8524587" /><Relationship Type="http://schemas.openxmlformats.org/officeDocument/2006/relationships/notesSlide" Target="/ppt/notesSlides/notesSlide8.xml" Id="R86962b52e9534d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6a55f2e6840bc" /><Relationship Type="http://schemas.openxmlformats.org/officeDocument/2006/relationships/chart" Target="/ppt/slides/charts/chart1.xml" Id="Rddba8dfbf4f845f5" /><Relationship Type="http://schemas.openxmlformats.org/officeDocument/2006/relationships/notesSlide" Target="/ppt/notesSlides/notesSlide9.xml" Id="R401a12a5b32340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b2f456365438e" /><Relationship Type="http://schemas.openxmlformats.org/officeDocument/2006/relationships/notesSlide" Target="/ppt/notesSlides/notesSlide10.xml" Id="Rebd6c7272d8b40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f28bb726a4590" /><Relationship Type="http://schemas.openxmlformats.org/officeDocument/2006/relationships/notesSlide" Target="/ppt/notesSlides/notesSlide11.xml" Id="R249efa37bde74b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20d67941e423e" /><Relationship Type="http://schemas.openxmlformats.org/officeDocument/2006/relationships/notesSlide" Target="/ppt/notesSlides/notesSlide12.xml" Id="R4a90ed1f17204f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00f07e09b4bc5" /><Relationship Type="http://schemas.openxmlformats.org/officeDocument/2006/relationships/notesSlide" Target="/ppt/notesSlides/notesSlide13.xml" Id="Rc8a01be96b4b473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Recall</c:v>
          </c:tx>
          <c:spPr>
            <a:solidFill xmlns:a="http://schemas.openxmlformats.org/drawingml/2006/main">
              <a:srgbClr val="2A7F8E"/>
            </a:solidFill>
          </c:spPr>
          <c:cat>
            <c:strLit>
              <c:ptCount val="6"/>
              <c:pt idx="0">
                <c:v>Dummy</c:v>
              </c:pt>
              <c:pt idx="1">
                <c:v>LogReg C 0,5</c:v>
              </c:pt>
              <c:pt idx="2">
                <c:v>LogReg C 1</c:v>
              </c:pt>
              <c:pt idx="3">
                <c:v>LogReg umbral 0,35</c:v>
              </c:pt>
              <c:pt idx="4">
                <c:v>RF 200</c:v>
              </c:pt>
              <c:pt idx="5">
                <c:v>RF 300 prof. 12</c:v>
              </c:pt>
            </c:strLit>
          </c:cat>
          <c:val>
            <c:numLit>
              <c:formatCode>General</c:formatCode>
              <c:ptCount val="6"/>
              <c:pt idx="0">
                <c:v>0</c:v>
              </c:pt>
              <c:pt idx="1">
                <c:v>0.477</c:v>
              </c:pt>
              <c:pt idx="2">
                <c:v>0.48</c:v>
              </c:pt>
              <c:pt idx="3">
                <c:v>0.666</c:v>
              </c:pt>
              <c:pt idx="4">
                <c:v>0.62</c:v>
              </c:pt>
              <c:pt idx="5">
                <c:v>0.701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365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3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AD3DC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BEA5E-A0FB-4AB1-B9D3-2D267B24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 Churn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DE8EE-898F-4318-B13F-8E74AB05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CE7F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CE7F2"/>
                </a:solidFill>
                <a:latin typeface="Arial"/>
                <a:ea typeface="Arial"/>
                <a:cs typeface="Arial"/>
              </a:rPr>
              <a:t>Entrega 1  Primer Parcial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80AAE-3BBB-4B45-8E5F-56E4F52D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BFD0E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FD0E2"/>
                </a:solidFill>
                <a:latin typeface="Arial"/>
                <a:ea typeface="Arial"/>
                <a:cs typeface="Arial"/>
              </a:rPr>
              <a:t>Laboratorio de Minería de Datos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E88F7-826C-4A27-85EC-346CBFC6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Proyecto Python reproducible con Git, DVC y MLflow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3CF68-ED28-440C-9281-0EC08F54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FD0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FD0E2"/>
                </a:solidFill>
                <a:latin typeface="Arial"/>
                <a:ea typeface="Arial"/>
                <a:cs typeface="Arial"/>
              </a:rPr>
              <a:t>Repositorio: github.com/giselle1990/entregaPrimerParcial</a:t>
            </a:r>
          </a:p>
        </p:txBody>
      </p:sp>
    </p:spTree>
    <p:extLst>
      <p:ext uri="{BB962C8B-B14F-4D97-AF65-F5344CB8AC3E}">
        <p14:creationId xmlns:p14="http://schemas.microsoft.com/office/powerpoint/2010/main" val="16341130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DD7D4-5ACF-4F44-8807-C13DC724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Flujo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74133-8440-4D2F-B012-67D81CBB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BD21A-E602-4E3E-BE04-9703AFB3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2952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AD3D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1  Dataset y notebook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8DC1D-32CE-48F5-8F61-EBC91E3A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2952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AD3D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2  Proyecto Python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E0802-7E37-47BE-B2DB-A83BBCB7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2952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AD3D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3  Git y GitHub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F8755-DB05-4F53-8960-BA485BD7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2952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7F2F3"/>
          </a:solidFill>
          <a:ln xmlns:a="http://schemas.openxmlformats.org/drawingml/2006/main" w="9525">
            <a:solidFill>
              <a:srgbClr val="CAD3D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4  DVC y DagsHub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9CEE6-96AE-434C-95A8-58BF97C4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2952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7F2F3"/>
          </a:solidFill>
          <a:ln xmlns:a="http://schemas.openxmlformats.org/drawingml/2006/main" w="9525">
            <a:solidFill>
              <a:srgbClr val="CAD3D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5  MLflow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D09A2-6D9D-4110-B4B7-7165327E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2952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7F2F3"/>
          </a:solidFill>
          <a:ln xmlns:a="http://schemas.openxmlformats.org/drawingml/2006/main" w="9525">
            <a:solidFill>
              <a:srgbClr val="CAD3D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6  Model Registry</a:t>
            </a:r>
          </a:p>
        </p:txBody>
      </p:sp>
      <p:cxnSp>
        <p:nvCxnSpPr>
          <p:cNvPr id="2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810000" y="20478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9A8"/>
            </a:solidFill>
            <a:prstDash val="solid"/>
          </a:ln>
        </p:spPr>
      </p:cxn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29500" y="20478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9A8"/>
            </a:solidFill>
            <a:prstDash val="solid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810000" y="44291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9A8"/>
            </a:solidFill>
            <a:prstDash val="solid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429500" y="44291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9A8"/>
            </a:solidFill>
            <a:prstDash val="solid"/>
          </a:ln>
        </p:spPr>
      </p:cxnSp>
      <p:cxnSp>
        <p:nvCxnSpPr>
          <p:cNvPr id="27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572625" y="2571750"/>
            <a:ext cx="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9A8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5881F6-225A-4E3C-841F-61902833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El flujo conserva la relación entre datos, código, corridas y modelo registrado.</a:t>
            </a:r>
          </a:p>
        </p:txBody>
      </p:sp>
    </p:spTree>
    <p:extLst>
      <p:ext uri="{BB962C8B-B14F-4D97-AF65-F5344CB8AC3E}">
        <p14:creationId xmlns:p14="http://schemas.microsoft.com/office/powerpoint/2010/main" val="15186380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8AFEB-815D-48C3-A34C-5B9DB0B7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Estructura del repositorio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D8786-48A5-40C5-9BFA-DF59FB2D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7CA2C-4D91-4919-B4A6-E0225DD2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A7F8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A7F8E"/>
                </a:solidFill>
                <a:latin typeface="Arial"/>
                <a:ea typeface="Arial"/>
                <a:cs typeface="Arial"/>
              </a:rPr>
              <a:t>Datos y exploración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7CA27-3ECA-4C94-B32C-6912E47D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57375"/>
            <a:ext cx="4572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data/raw</a:t>
            </a:r>
          </a:p>
          <a:p xmlns:a="http://schemas.openxmlformats.org/drawingml/2006/main">
            <a:pPr algn="l"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  CSV controlado por DVC</a:t>
            </a:r>
          </a:p>
          <a:p xmlns:a="http://schemas.openxmlformats.org/drawingml/2006/main">
            <a:pPr algn="l"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data/processed</a:t>
            </a:r>
          </a:p>
          <a:p xmlns:a="http://schemas.openxmlformats.org/drawingml/2006/main">
            <a:pPr algn="l"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data/reference</a:t>
            </a:r>
          </a:p>
          <a:p xmlns:a="http://schemas.openxmlformats.org/drawingml/2006/main">
            <a:pPr algn="l"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metadata</a:t>
            </a:r>
          </a:p>
          <a:p xmlns:a="http://schemas.openxmlformats.org/drawingml/2006/main">
            <a:pPr algn="l"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notebooks/01_eda.ipynb</a:t>
            </a:r>
          </a:p>
          <a:p xmlns:a="http://schemas.openxmlformats.org/drawingml/2006/main">
            <a:pPr algn="l"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results/eda_summary.md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F334C-0151-483D-A4D4-E0002C16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335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A7F8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A7F8E"/>
                </a:solidFill>
                <a:latin typeface="Arial"/>
                <a:ea typeface="Arial"/>
                <a:cs typeface="Arial"/>
              </a:rPr>
              <a:t>Código reutilizable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DC9A4-8C5F-4989-B27A-C628B041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57375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src/data</a:t>
            </a:r>
          </a:p>
          <a:p xmlns:a="http://schemas.openxmlformats.org/drawingml/2006/main">
            <a:pPr algn="l"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  Carga y validación</a:t>
            </a:r>
          </a:p>
          <a:p xmlns:a="http://schemas.openxmlformats.org/drawingml/2006/main">
            <a:pPr algn="l"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src/features</a:t>
            </a:r>
          </a:p>
          <a:p xmlns:a="http://schemas.openxmlformats.org/drawingml/2006/main">
            <a:pPr algn="l"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  Preprocesamiento</a:t>
            </a:r>
          </a:p>
          <a:p xmlns:a="http://schemas.openxmlformats.org/drawingml/2006/main">
            <a:pPr algn="l"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src/training</a:t>
            </a:r>
          </a:p>
          <a:p xmlns:a="http://schemas.openxmlformats.org/drawingml/2006/main">
            <a:pPr algn="l"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  Experimentos y registro</a:t>
            </a:r>
          </a:p>
          <a:p xmlns:a="http://schemas.openxmlformats.org/drawingml/2006/main">
            <a:pPr algn="l"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src/evaluation</a:t>
            </a:r>
          </a:p>
          <a:p xmlns:a="http://schemas.openxmlformats.org/drawingml/2006/main">
            <a:pPr algn="l"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  Métricas</a:t>
            </a:r>
          </a:p>
          <a:p xmlns:a="http://schemas.openxmlformats.org/drawingml/2006/main">
            <a:pPr algn="l"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src/inference</a:t>
            </a:r>
          </a:p>
          <a:p xmlns:a="http://schemas.openxmlformats.org/drawingml/2006/main">
            <a:pPr algn="l"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  Predicciones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8C802-62F1-4782-9422-E349B2AA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README.md   requirements.txt   .gitignore   tests</a:t>
            </a:r>
          </a:p>
        </p:txBody>
      </p:sp>
    </p:spTree>
    <p:extLst>
      <p:ext uri="{BB962C8B-B14F-4D97-AF65-F5344CB8AC3E}">
        <p14:creationId xmlns:p14="http://schemas.microsoft.com/office/powerpoint/2010/main" val="12452448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35C943-CAB7-4F27-ABF9-A52CEAD1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Versionado del dataset con DVC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754A8-FBBB-435E-B466-28E81D46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6E574-64F0-4C77-8488-16BFEACE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667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AD3D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GitHub</a:t>
            </a:r>
          </a:p>
          <a:p xmlns:a="http://schemas.openxmlformats.org/drawingml/2006/main">
            <a:pPr algn="ctr"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archivo .dvc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9CEEE-8FA3-4735-9033-3E54C1BB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2667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7F2F3"/>
          </a:solidFill>
          <a:ln xmlns:a="http://schemas.openxmlformats.org/drawingml/2006/main" w="9525">
            <a:solidFill>
              <a:srgbClr val="CAD3D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DVC</a:t>
            </a:r>
          </a:p>
          <a:p xmlns:a="http://schemas.openxmlformats.org/drawingml/2006/main">
            <a:pPr algn="ctr"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huella MD5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7BCE2-0001-469B-BE8A-15AF102D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2667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AD3D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DagsHub</a:t>
            </a:r>
          </a:p>
          <a:p xmlns:a="http://schemas.openxmlformats.org/drawingml/2006/main">
            <a:pPr algn="ctr"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CSV histórico</a:t>
            </a:r>
          </a:p>
        </p:txBody>
      </p:sp>
      <p:cxnSp>
        <p:nvCxnSpPr>
          <p:cNvPr id="15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24250" y="257175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9A8"/>
            </a:solidFill>
            <a:prstDash val="solid"/>
          </a:ln>
        </p:spPr>
      </p:cxnSp>
      <p:cxnSp>
        <p:nvCxnSpPr>
          <p:cNvPr id="1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29500" y="257175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9A8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35063-268C-44DC-9767-2592C0C1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El repositorio no versiona el CSV directamente.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817FF-1CBB-4914-A8BD-89D28A13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24375"/>
            <a:ext cx="904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02A35"/>
                </a:solidFill>
                <a:latin typeface="Arial"/>
                <a:ea typeface="Arial"/>
                <a:cs typeface="Arial"/>
              </a:rPr>
              <a:t>Archivo de referencia: data/raw/customer_churn_historical.csv.dvc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02A35"/>
                </a:solidFill>
                <a:latin typeface="Arial"/>
                <a:ea typeface="Arial"/>
                <a:cs typeface="Arial"/>
              </a:rPr>
              <a:t>Remote: dagshub.com/giselle.san/entregaPrimerParcial.dvc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725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02A35"/>
                </a:solidFill>
                <a:latin typeface="Arial"/>
                <a:ea typeface="Arial"/>
                <a:cs typeface="Arial"/>
              </a:rPr>
              <a:t>Recuperación en otra copia mediante dvc pull</a:t>
            </a:r>
          </a:p>
        </p:txBody>
      </p:sp>
    </p:spTree>
    <p:extLst>
      <p:ext uri="{BB962C8B-B14F-4D97-AF65-F5344CB8AC3E}">
        <p14:creationId xmlns:p14="http://schemas.microsoft.com/office/powerpoint/2010/main" val="12526852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6C200-4AE0-4787-8B62-0EDC293D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Análisis exploratorio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2D562-38E1-4327-AE25-684E2724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191000"/>
              </a:tblGrid>
              <a:tr h="6667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5250" marR="95250" marT="66675" marB="6667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</a:t>
                      </a:r>
                    </a:p>
                  </a:txBody>
                  <a:tcPr marL="95250" marR="95250" marT="66675" marB="66675" anchor="ctr">
                    <a:solidFill>
                      <a:srgbClr val="17365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Dimensiones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7.043 filas y 21 columnas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95250" marR="95250" marT="57150" marB="57150"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Churn Yes 26,37 %</a:t>
                      </a:r>
                    </a:p>
                  </a:txBody>
                  <a:tcPr marL="95250" marR="95250" marT="57150" marB="57150" anchor="ctr">
                    <a:solidFill>
                      <a:srgbClr val="EAF1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Valores faltantes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26 en TotalCharges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Duplicados</a:t>
                      </a:r>
                    </a:p>
                  </a:txBody>
                  <a:tcPr marL="95250" marR="95250" marT="57150" marB="57150"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0 IDs y 0 filas</a:t>
                      </a:r>
                    </a:p>
                  </a:txBody>
                  <a:tcPr marL="95250" marR="95250" marT="57150" marB="57150" anchor="ctr">
                    <a:solidFill>
                      <a:srgbClr val="EAF1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Variables revisadas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Contract e InternetService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80B52-DC85-4977-A6D2-0B7C9367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A7F8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A7F8E"/>
                </a:solidFill>
                <a:latin typeface="Arial"/>
                <a:ea typeface="Arial"/>
                <a:cs typeface="Arial"/>
              </a:rPr>
              <a:t>Principales observaciones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BFB06-E0C3-4C47-8866-39FD4597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3810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02A35"/>
                </a:solidFill>
                <a:latin typeface="Arial"/>
                <a:ea typeface="Arial"/>
                <a:cs typeface="Arial"/>
              </a:rPr>
              <a:t>El churn aumenta en contratos mes a mes.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02A35"/>
                </a:solidFill>
                <a:latin typeface="Arial"/>
                <a:ea typeface="Arial"/>
                <a:cs typeface="Arial"/>
              </a:rPr>
              <a:t>Los clientes con fibra óptica muestran mayor churn.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02A35"/>
                </a:solidFill>
                <a:latin typeface="Arial"/>
                <a:ea typeface="Arial"/>
                <a:cs typeface="Arial"/>
              </a:rPr>
              <a:t>customerID se excluye porque identifica al cliente.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02A35"/>
                </a:solidFill>
                <a:latin typeface="Arial"/>
                <a:ea typeface="Arial"/>
                <a:cs typeface="Arial"/>
              </a:rPr>
              <a:t>El EDA describe relaciones y no demuestra causalidad.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DA28E-0F8B-4730-977B-184B68A0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38162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Salida reproducible: results/eda_summary.md</a:t>
            </a:r>
          </a:p>
        </p:txBody>
      </p:sp>
    </p:spTree>
    <p:extLst>
      <p:ext uri="{BB962C8B-B14F-4D97-AF65-F5344CB8AC3E}">
        <p14:creationId xmlns:p14="http://schemas.microsoft.com/office/powerpoint/2010/main" val="7055278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FD2D1-568B-46C0-9907-986DC9DD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Partición reproducible de los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06161-D1B9-47C5-B27C-F9CEFCCE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B69AD-386A-4565-918E-6F5432A2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8587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Separación estratificada con random_state igual a 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BDF79-FEB8-4F5C-BF9B-251B2CFF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6057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Entrenamiento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60 %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3C812-C0DD-4EA3-9BE7-EEB401EC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33625"/>
            <a:ext cx="2019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Validación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20 %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9170A-15B4-4B70-B5EC-20785033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33625"/>
            <a:ext cx="2019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1B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84969-0614-4EFB-BAAC-6395E245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100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Ajuste de modelos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85775D-8104-4CBC-AC0E-54A4F708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10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Selección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A37AB-19CB-49DE-B9B0-6CDD4D6A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10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Evaluación final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CEBC9-600E-4AF4-AAED-893F0E07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El código consulta el test una sola vez después de seleccionar el candidato en validación.</a:t>
            </a:r>
          </a:p>
        </p:txBody>
      </p:sp>
    </p:spTree>
    <p:extLst>
      <p:ext uri="{BB962C8B-B14F-4D97-AF65-F5344CB8AC3E}">
        <p14:creationId xmlns:p14="http://schemas.microsoft.com/office/powerpoint/2010/main" val="12571362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D7A21-64DB-4C37-9F1F-9C19C73D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Pipeline de preprocesamiento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BE3A8-2629-4A66-BA25-2C57D7AC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2F513-918C-49FF-9788-A18F1BAB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22383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AD3D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Datos de entrada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73038-B6AF-421F-8E90-ED6BE1E8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71625"/>
            <a:ext cx="2476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F2F3"/>
          </a:solidFill>
          <a:ln xmlns:a="http://schemas.openxmlformats.org/drawingml/2006/main" w="9525">
            <a:solidFill>
              <a:srgbClr val="CAD3D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Numéricas</a:t>
            </a:r>
          </a:p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mediana y escala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A595C-2163-43C6-9D05-689B7E78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24250"/>
            <a:ext cx="2476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F2F3"/>
          </a:solidFill>
          <a:ln xmlns:a="http://schemas.openxmlformats.org/drawingml/2006/main" w="9525">
            <a:solidFill>
              <a:srgbClr val="CAD3D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Categóricas</a:t>
            </a:r>
          </a:p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moda y One Hot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0DE03-51DE-4571-BA0B-28F7970F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28875"/>
            <a:ext cx="2857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AD3D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ColumnTransformer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A4710-F13C-49E3-9C22-D14BA045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28875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F2F3"/>
          </a:solidFill>
          <a:ln xmlns:a="http://schemas.openxmlformats.org/drawingml/2006/main" w="9525">
            <a:solidFill>
              <a:srgbClr val="CAD3D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Modelo</a:t>
            </a:r>
          </a:p>
        </p:txBody>
      </p:sp>
      <p:cxnSp>
        <p:nvCxnSpPr>
          <p:cNvPr id="21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2905125" y="2143125"/>
            <a:ext cx="52387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9A8"/>
            </a:solidFill>
            <a:prstDash val="solid"/>
          </a:ln>
        </p:spPr>
      </p:cxnSp>
      <p:cxnSp>
        <p:nvCxnSpPr>
          <p:cNvPr id="22" name="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05125" y="2905125"/>
            <a:ext cx="523875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9A8"/>
            </a:solidFill>
            <a:prstDash val="solid"/>
          </a:ln>
        </p:spPr>
      </p:cxn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05500" y="2143125"/>
            <a:ext cx="42862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9A8"/>
            </a:solidFill>
            <a:prstDash val="solid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905500" y="2905125"/>
            <a:ext cx="428625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9A8"/>
            </a:solidFill>
            <a:prstDash val="solid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191625" y="29051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9A8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F5DCB-38BC-4870-95A7-BD19DC08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8637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handle_unknown igual a ignore permite recibir categorías nuevas sin interrumpir la predicción.</a:t>
            </a:r>
          </a:p>
        </p:txBody>
      </p:sp>
    </p:spTree>
    <p:extLst>
      <p:ext uri="{BB962C8B-B14F-4D97-AF65-F5344CB8AC3E}">
        <p14:creationId xmlns:p14="http://schemas.microsoft.com/office/powerpoint/2010/main" val="13735755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38A67-0E63-4C44-AE9E-2FA6C2C2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Alternativas de entrenamiento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DF47A-1746-4DC6-B2AE-B0843894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1000125" y="1285875"/>
          <a:ext xmlns:a="http://schemas.openxmlformats.org/drawingml/2006/main" cx="1019175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6191250"/>
                <a:gridCol w="1905000"/>
              </a:tblGrid>
              <a:tr h="632732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Familia</a:t>
                      </a:r>
                    </a:p>
                  </a:txBody>
                  <a:tcPr marL="95250" marR="95250" marT="66675" marB="6667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Configuración</a:t>
                      </a:r>
                    </a:p>
                  </a:txBody>
                  <a:tcPr marL="95250" marR="95250" marT="66675" marB="6667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Umbral</a:t>
                      </a:r>
                    </a:p>
                  </a:txBody>
                  <a:tcPr marL="95250" marR="95250" marT="66675" marB="66675" anchor="ctr">
                    <a:solidFill>
                      <a:srgbClr val="17365D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Dummy most frequent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0,50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Lineal</a:t>
                      </a:r>
                    </a:p>
                  </a:txBody>
                  <a:tcPr marL="95250" marR="95250" marT="57150" marB="57150"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Logistic Regression C 0,5</a:t>
                      </a:r>
                    </a:p>
                  </a:txBody>
                  <a:tcPr marL="95250" marR="95250" marT="57150" marB="57150"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0,50</a:t>
                      </a:r>
                    </a:p>
                  </a:txBody>
                  <a:tcPr marL="95250" marR="95250" marT="57150" marB="57150" anchor="ctr">
                    <a:solidFill>
                      <a:srgbClr val="EAF1F7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Lineal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Logistic Regression C 1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0,50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Lineal</a:t>
                      </a:r>
                    </a:p>
                  </a:txBody>
                  <a:tcPr marL="95250" marR="95250" marT="57150" marB="57150"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Logistic Regression C 1</a:t>
                      </a:r>
                    </a:p>
                  </a:txBody>
                  <a:tcPr marL="95250" marR="95250" marT="57150" marB="57150"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0,35</a:t>
                      </a:r>
                    </a:p>
                  </a:txBody>
                  <a:tcPr marL="95250" marR="95250" marT="57150" marB="57150" anchor="ctr">
                    <a:solidFill>
                      <a:srgbClr val="EAF1F7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Árbol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Random Forest 200 árboles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0,50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632732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Árbol</a:t>
                      </a:r>
                    </a:p>
                  </a:txBody>
                  <a:tcPr marL="95250" marR="95250" marT="57150" marB="57150"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Random Forest 300 árboles, profundidad 12</a:t>
                      </a:r>
                    </a:p>
                  </a:txBody>
                  <a:tcPr marL="95250" marR="95250" marT="57150" marB="57150"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0,50</a:t>
                      </a:r>
                    </a:p>
                  </a:txBody>
                  <a:tcPr marL="95250" marR="95250" marT="57150" marB="57150" anchor="ctr">
                    <a:solidFill>
                      <a:srgbClr val="EAF1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7D0EA-17B0-4C51-B80C-D33FB9E0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Cada configuración genera una corrida independiente en MLflow.</a:t>
            </a:r>
          </a:p>
        </p:txBody>
      </p:sp>
    </p:spTree>
    <p:extLst>
      <p:ext uri="{BB962C8B-B14F-4D97-AF65-F5344CB8AC3E}">
        <p14:creationId xmlns:p14="http://schemas.microsoft.com/office/powerpoint/2010/main" val="16587709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C7DF0-A6A8-4E6C-89A4-4A758428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Comparación en validación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B24E0-BF6F-4191-B083-B2395D6C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62000" y="1285875"/>
          <a:ext xmlns:a="http://schemas.openxmlformats.org/drawingml/2006/main" cx="7239000" cy="4429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ba8dfbf4f845f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14BCE-1636-4E00-ACD3-B4C93561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19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A7F8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A7F8E"/>
                </a:solidFill>
                <a:latin typeface="Arial"/>
                <a:ea typeface="Arial"/>
                <a:cs typeface="Arial"/>
              </a:rPr>
              <a:t>Criterio de selección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0B05F-C6C4-4B79-822D-D7D6C1FD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50 % Recall</a:t>
            </a:r>
          </a:p>
          <a:p xmlns:a="http://schemas.openxmlformats.org/drawingml/2006/main">
            <a:pPr algn="ctr">
              <a:defRPr sz="22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30 % F1</a:t>
            </a:r>
          </a:p>
          <a:p xmlns:a="http://schemas.openxmlformats.org/drawingml/2006/main">
            <a:pPr algn="ctr">
              <a:defRPr sz="22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20 % ROC AUC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CDDBA-5475-4B80-A6EF-E2F68AA5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95750"/>
            <a:ext cx="314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El Random Forest de 300 árboles obtuvo el mayor puntaje combinado.</a:t>
            </a:r>
          </a:p>
        </p:txBody>
      </p:sp>
    </p:spTree>
    <p:extLst>
      <p:ext uri="{BB962C8B-B14F-4D97-AF65-F5344CB8AC3E}">
        <p14:creationId xmlns:p14="http://schemas.microsoft.com/office/powerpoint/2010/main" val="19295287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6C231-94AC-4BF2-B9FB-CEF96C2C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Evaluación final del candidato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3E4F0-3A1E-4DAD-B2D7-FC5ED833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32E75-D5FA-45F0-89D1-152C836F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28587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Random Forest  300 árboles  profundidad máxima 12  umbral 0,50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14375" y="2333625"/>
          <a:ext xmlns:a="http://schemas.openxmlformats.org/drawingml/2006/main" cx="10763250" cy="1381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71625"/>
                <a:gridCol w="1571625"/>
                <a:gridCol w="1476375"/>
                <a:gridCol w="1285875"/>
                <a:gridCol w="1619250"/>
                <a:gridCol w="1238250"/>
                <a:gridCol w="1238250"/>
              </a:tblGrid>
              <a:tr h="69056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5250" marR="95250" marT="66675" marB="6667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95250" marR="95250" marT="66675" marB="6667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95250" marR="95250" marT="66675" marB="6667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5250" marR="95250" marT="66675" marB="6667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ROC AUC</a:t>
                      </a:r>
                    </a:p>
                  </a:txBody>
                  <a:tcPr marL="95250" marR="95250" marT="66675" marB="6667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</a:p>
                  </a:txBody>
                  <a:tcPr marL="95250" marR="95250" marT="66675" marB="6667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FN</a:t>
                      </a:r>
                    </a:p>
                  </a:txBody>
                  <a:tcPr marL="95250" marR="95250" marT="66675" marB="66675" anchor="ctr">
                    <a:solidFill>
                      <a:srgbClr val="17365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0,747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0,516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0,634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0,569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0,801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221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136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097DF-FFB5-4A2B-A28E-C65889D3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291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A7F8E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A7F8E"/>
                </a:solidFill>
                <a:latin typeface="Arial"/>
                <a:ea typeface="Arial"/>
                <a:cs typeface="Arial"/>
              </a:rPr>
              <a:t>63,4 %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D40C7-B683-4457-9236-1EBB7D89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de los abandonos reales fueron detectados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E8FD3-FC08-4996-853D-2BCACC6C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19625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El conjunto de test permaneció aislado durante la selección y se utilizó una sola vez.</a:t>
            </a:r>
          </a:p>
        </p:txBody>
      </p:sp>
    </p:spTree>
    <p:extLst>
      <p:ext uri="{BB962C8B-B14F-4D97-AF65-F5344CB8AC3E}">
        <p14:creationId xmlns:p14="http://schemas.microsoft.com/office/powerpoint/2010/main" val="11389177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1FF7D-26B4-4E66-AA79-C87BD4B8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Trazabilidad en MLflow y Model Registry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A7306-85AE-4D9D-BFDB-9A01F3B1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1381125"/>
          <a:ext xmlns:a="http://schemas.openxmlformats.org/drawingml/2006/main" cx="7239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762500"/>
              </a:tblGrid>
              <a:tr h="7048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Evidencia</a:t>
                      </a:r>
                    </a:p>
                  </a:txBody>
                  <a:tcPr marL="95250" marR="95250" marT="66675" marB="6667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Valor registrado</a:t>
                      </a:r>
                    </a:p>
                  </a:txBody>
                  <a:tcPr marL="95250" marR="95250" marT="66675" marB="66675" anchor="ctr">
                    <a:solidFill>
                      <a:srgbClr val="17365D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Experimento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customer-churn-entrega-1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Corrida final</a:t>
                      </a:r>
                    </a:p>
                  </a:txBody>
                  <a:tcPr marL="95250" marR="95250" marT="57150" marB="57150"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a9013766e57641cc9fa53de5d72b92cd</a:t>
                      </a:r>
                    </a:p>
                  </a:txBody>
                  <a:tcPr marL="95250" marR="95250" marT="57150" marB="57150" anchor="ctr">
                    <a:solidFill>
                      <a:srgbClr val="EAF1F7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Modelo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customer-churn-candidate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Versión</a:t>
                      </a:r>
                    </a:p>
                  </a:txBody>
                  <a:tcPr marL="95250" marR="95250" marT="57150" marB="57150"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A3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5250" marR="95250" marT="57150" marB="57150" anchor="ctr">
                    <a:solidFill>
                      <a:srgbClr val="EAF1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5CDDD-C985-41DD-BD04-02315938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763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A7F8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A7F8E"/>
                </a:solidFill>
                <a:latin typeface="Arial"/>
                <a:ea typeface="Arial"/>
                <a:cs typeface="Arial"/>
              </a:rPr>
              <a:t>Cada corrida registra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47DA1-A215-42D7-982C-F68C60A9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47875"/>
            <a:ext cx="3143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02A35"/>
                </a:solidFill>
                <a:latin typeface="Arial"/>
                <a:ea typeface="Arial"/>
                <a:cs typeface="Arial"/>
              </a:rPr>
              <a:t>Parámetros y umbral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02A35"/>
                </a:solidFill>
                <a:latin typeface="Arial"/>
                <a:ea typeface="Arial"/>
                <a:cs typeface="Arial"/>
              </a:rPr>
              <a:t>Métricas de validación o test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02A35"/>
                </a:solidFill>
                <a:latin typeface="Arial"/>
                <a:ea typeface="Arial"/>
                <a:cs typeface="Arial"/>
              </a:rPr>
              <a:t>Hash del dataset y commit Git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202A35"/>
                </a:solidFill>
                <a:latin typeface="Arial"/>
                <a:ea typeface="Arial"/>
                <a:cs typeface="Arial"/>
              </a:rPr>
              <a:t>Pipeline y artefactos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5FA7F-FF5B-4CBB-8726-D8A9983A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0006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La versión 3 conserva el vínculo con la corrida final.</a:t>
            </a:r>
          </a:p>
        </p:txBody>
      </p:sp>
    </p:spTree>
    <p:extLst>
      <p:ext uri="{BB962C8B-B14F-4D97-AF65-F5344CB8AC3E}">
        <p14:creationId xmlns:p14="http://schemas.microsoft.com/office/powerpoint/2010/main" val="11247177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9FFDD-2DF4-487A-B90F-A993D45C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Reproducción desde otra computadora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F8444-4397-4D5F-B00A-D0E133EA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F5C9F-47B9-4F87-80D6-E1A18515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3143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AD3D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1</a:t>
            </a:r>
          </a:p>
          <a:p xmlns:a="http://schemas.openxmlformats.org/drawingml/2006/main">
            <a:pPr algn="ctr"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Clonar GitHub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09E53-C773-45D9-93B1-C52D3C0E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3143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AD3D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2</a:t>
            </a:r>
          </a:p>
          <a:p xmlns:a="http://schemas.openxmlformats.org/drawingml/2006/main">
            <a:pPr algn="ctr"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Elegir tag entrega-1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902C8-B3B5-43F6-8C8A-C94002F1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28750"/>
            <a:ext cx="3143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AD3D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3</a:t>
            </a:r>
          </a:p>
          <a:p xmlns:a="http://schemas.openxmlformats.org/drawingml/2006/main">
            <a:pPr algn="ctr"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Instalar requirements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A3E12-07D2-41AE-AEE0-92682768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143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7F2F3"/>
          </a:solidFill>
          <a:ln xmlns:a="http://schemas.openxmlformats.org/drawingml/2006/main" w="9525">
            <a:solidFill>
              <a:srgbClr val="CAD3D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4</a:t>
            </a:r>
          </a:p>
          <a:p xmlns:a="http://schemas.openxmlformats.org/drawingml/2006/main">
            <a:pPr algn="ctr"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Configurar credenciales DVC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F64A8-E910-4F0C-81CE-1901B37E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14750"/>
            <a:ext cx="3143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7F2F3"/>
          </a:solidFill>
          <a:ln xmlns:a="http://schemas.openxmlformats.org/drawingml/2006/main" w="9525">
            <a:solidFill>
              <a:srgbClr val="CAD3D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5</a:t>
            </a:r>
          </a:p>
          <a:p xmlns:a="http://schemas.openxmlformats.org/drawingml/2006/main">
            <a:pPr algn="ctr"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Ejecutar dvc pull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4E7B3-FD47-45BD-9566-FC4BBE12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3143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7F2F3"/>
          </a:solidFill>
          <a:ln xmlns:a="http://schemas.openxmlformats.org/drawingml/2006/main" w="9525">
            <a:solidFill>
              <a:srgbClr val="CAD3D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6</a:t>
            </a:r>
          </a:p>
          <a:p xmlns:a="http://schemas.openxmlformats.org/drawingml/2006/main">
            <a:pPr algn="ctr"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Ejecutar EDA, tests y entrenamiento</a:t>
            </a:r>
          </a:p>
        </p:txBody>
      </p:sp>
      <p:cxnSp>
        <p:nvCxnSpPr>
          <p:cNvPr id="2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905250" y="2119313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9A8"/>
            </a:solidFill>
            <a:prstDash val="solid"/>
          </a:ln>
        </p:spPr>
      </p:cxn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24750" y="2119313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9A8"/>
            </a:solidFill>
            <a:prstDash val="solid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905250" y="4405313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9A8"/>
            </a:solidFill>
            <a:prstDash val="solid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4405313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9A8"/>
            </a:solidFill>
            <a:prstDash val="solid"/>
          </a:ln>
        </p:spPr>
      </p:cxnSp>
      <p:cxnSp>
        <p:nvCxnSpPr>
          <p:cNvPr id="27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572625" y="28098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99A8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4AB3F-1E7B-45AD-B228-FA67ED3A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9750"/>
            <a:ext cx="942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El token pertenece a cada usuario y queda fuera de Git en .dvc/config.local.</a:t>
            </a:r>
          </a:p>
        </p:txBody>
      </p:sp>
    </p:spTree>
    <p:extLst>
      <p:ext uri="{BB962C8B-B14F-4D97-AF65-F5344CB8AC3E}">
        <p14:creationId xmlns:p14="http://schemas.microsoft.com/office/powerpoint/2010/main" val="11769097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2EEDC-9941-4E8E-AE97-82EE80B2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Estado de las evidencias de entrega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65F7D-B270-4E40-B6BC-7A7A00DD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B7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21B91-0326-49BB-A780-8BCF7C61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7F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7F8E"/>
                </a:solidFill>
                <a:latin typeface="Arial"/>
                <a:ea typeface="Arial"/>
                <a:cs typeface="Arial"/>
              </a:rPr>
              <a:t>Git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7D83E-28D9-4B78-AF28-A1F7E123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02A35"/>
                </a:solidFill>
                <a:latin typeface="Arial"/>
                <a:ea typeface="Arial"/>
                <a:cs typeface="Arial"/>
              </a:rPr>
              <a:t>Rama 1PARCIAL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02A35"/>
                </a:solidFill>
                <a:latin typeface="Arial"/>
                <a:ea typeface="Arial"/>
                <a:cs typeface="Arial"/>
              </a:rPr>
              <a:t>Tag entrega-1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02A35"/>
                </a:solidFill>
                <a:latin typeface="Arial"/>
                <a:ea typeface="Arial"/>
                <a:cs typeface="Arial"/>
              </a:rPr>
              <a:t>Commit presentado 55a0800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1992A-8C0D-4582-917D-06CAD266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7F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7F8E"/>
                </a:solidFill>
                <a:latin typeface="Arial"/>
                <a:ea typeface="Arial"/>
                <a:cs typeface="Arial"/>
              </a:rPr>
              <a:t>Datos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4C40D-0F40-4906-A997-694D6244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4572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02A35"/>
                </a:solidFill>
                <a:latin typeface="Arial"/>
                <a:ea typeface="Arial"/>
                <a:cs typeface="Arial"/>
              </a:rPr>
              <a:t>Remote DVC configurado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02A35"/>
                </a:solidFill>
                <a:latin typeface="Arial"/>
                <a:ea typeface="Arial"/>
                <a:cs typeface="Arial"/>
              </a:rPr>
              <a:t>CSV recuperado desde una segunda copia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1EB76-1A55-47E4-A56F-CA0F8535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7F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7F8E"/>
                </a:solidFill>
                <a:latin typeface="Arial"/>
                <a:ea typeface="Arial"/>
                <a:cs typeface="Arial"/>
              </a:rPr>
              <a:t>Experimentación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1BA6C-25B5-4A4C-8FD9-4F163FCD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02A35"/>
                </a:solidFill>
                <a:latin typeface="Arial"/>
                <a:ea typeface="Arial"/>
                <a:cs typeface="Arial"/>
              </a:rPr>
              <a:t>Seis alternativas comparadas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02A35"/>
                </a:solidFill>
                <a:latin typeface="Arial"/>
                <a:ea typeface="Arial"/>
                <a:cs typeface="Arial"/>
              </a:rPr>
              <a:t>Corrida final identificada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02A35"/>
                </a:solidFill>
                <a:latin typeface="Arial"/>
                <a:ea typeface="Arial"/>
                <a:cs typeface="Arial"/>
              </a:rPr>
              <a:t>Modelo versión 3 registrado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D738C-1646-4462-AF2E-31BFD0E7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7F8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A7F8E"/>
                </a:solidFill>
                <a:latin typeface="Arial"/>
                <a:ea typeface="Arial"/>
                <a:cs typeface="Arial"/>
              </a:rPr>
              <a:t>Reproducción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BE5020-2625-4E86-A2B7-0429D0FC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19625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A3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A35"/>
                </a:solidFill>
                <a:latin typeface="Arial"/>
                <a:ea typeface="Arial"/>
                <a:cs typeface="Arial"/>
              </a:rPr>
              <a:t>El flujo para Linux está documentado. Falta adjuntar la evidencia de ejecución realizada por otro integrante.</a:t>
            </a:r>
          </a:p>
        </p:txBody>
      </p:sp>
    </p:spTree>
    <p:extLst>
      <p:ext uri="{BB962C8B-B14F-4D97-AF65-F5344CB8AC3E}">
        <p14:creationId xmlns:p14="http://schemas.microsoft.com/office/powerpoint/2010/main" val="166376985"/>
      </p:ext>
    </p:extLst>
  </p:cSld>
</p:sld>
</file>

<file path=ppt/theme/theme1.xml><?xml version="1.0" encoding="utf-8"?>
<a:theme xmlns:a="http://schemas.openxmlformats.org/drawingml/2006/main" name="ChatGPT">
  <a:themeElements>
    <a:clrScheme name="Entrega 1">
      <a:dk1>
        <a:srgbClr val="000000"/>
      </a:dk1>
      <a:lt1>
        <a:srgbClr val="FFFFFF"/>
      </a:lt1>
      <a:dk2>
        <a:srgbClr val="17365D"/>
      </a:dk2>
      <a:lt2>
        <a:srgbClr val="EAF1F7"/>
      </a:lt2>
      <a:accent1>
        <a:srgbClr val="17365D"/>
      </a:accent1>
      <a:accent2>
        <a:srgbClr val="2A7F8E"/>
      </a:accent2>
      <a:accent3>
        <a:srgbClr val="4F81BD"/>
      </a:accent3>
      <a:accent4>
        <a:srgbClr val="A95C44"/>
      </a:accent4>
      <a:accent5>
        <a:srgbClr val="6F6A9E"/>
      </a:accent5>
      <a:accent6>
        <a:srgbClr val="5A7D5A"/>
      </a:accent6>
      <a:hlink>
        <a:srgbClr val="4F81BD"/>
      </a:hlink>
      <a:folHlink>
        <a:srgbClr val="6F6A9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Entrega 1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2026-09-12T17:28:31.8420000Z</dcterms:created>
  <dcterms:modified xsi:type="dcterms:W3CDTF">2026-09-12T17:28:31.8420000Z</dcterms:modified>
</coreProperties>
</file>